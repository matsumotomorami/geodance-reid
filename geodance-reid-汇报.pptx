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06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463040"/>
            <a:ext cx="5852160" cy="5852160"/>
          </a:xfrm>
          <a:prstGeom prst="ellipse">
            <a:avLst/>
          </a:prstGeom>
          <a:solidFill>
            <a:srgbClr val="21295C">
              <a:alpha val="65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235440" y="-457200"/>
            <a:ext cx="3840480" cy="3840480"/>
          </a:xfrm>
          <a:prstGeom prst="ellipse">
            <a:avLst/>
          </a:prstGeom>
          <a:solidFill>
            <a:srgbClr val="0A3D62">
              <a:alpha val="45000"/>
            </a:srgbClr>
          </a:solidFill>
          <a:ln w="12700">
            <a:solidFill>
              <a:srgbClr val="2DD4B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10058400" y="320040"/>
            <a:ext cx="2194560" cy="2194560"/>
          </a:xfrm>
          <a:prstGeom prst="ellipse">
            <a:avLst/>
          </a:prstGeom>
          <a:solidFill>
            <a:srgbClr val="2DD4BF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10058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项目技术汇报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室内多摄像头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跨镜</a:t>
            </a: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Re-ID 系统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geodance-reid · 基于 YOLO + ByteTrack 思路 + Fast-ReID 的全栈实时人数感知系统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04672" y="4800600"/>
            <a:ext cx="292608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7724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React 19   ·   FastAPI + PyTorch   ·   </a:t>
            </a: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路 RTSP 摄像头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 /  项目背景与目标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把多路摄像头里的“同一个人”数清楚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室内场景部署了多路 RTSP 摄像头，部分摄像头视野存在重叠。同一个人会以不同角度同时出现在多个画面中，简单地把每路人数相加会严重重复计数。本项目要在低采样率下完成检测、跨镜身份合并，并实时渲染画面。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32688" y="2990088"/>
            <a:ext cx="868680" cy="8686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3209544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40233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实时画面渲染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443484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路 RTSP 转 MJPEG 在前端实时显示，识别可低采样（约每 3 秒一次）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11296" y="269748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3803904" y="2990088"/>
            <a:ext cx="868680" cy="8686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3209544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7328" y="40233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跨镜唯一身份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67328" y="443484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同一人在不同摄像头获得同一个全局 ID，画面上叠加人框与编号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82512" y="269748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6675120" y="2990088"/>
            <a:ext cx="868680" cy="8686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76" y="3209544"/>
            <a:ext cx="429768" cy="4297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38544" y="40233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重叠视野去重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638544" y="443484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对配置为视野重叠的摄像头对做去重，避免同一人被重复统计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253728" y="269748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9546336" y="2990088"/>
            <a:ext cx="868680" cy="8686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792" y="3209544"/>
            <a:ext cx="429768" cy="4297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09760" y="402336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全局总人数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509760" y="443484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合并所有摄像头身份后，输出当前室内实际可见总人数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 /  系统总体架构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前端实时渲染 + 后端低频识别的双层结构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5669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470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737360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RTSP 摄像头层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514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路室内摄像头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rtsp://geo.7sref.com:1989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 / 低可用 / 低清三类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749040" y="1737360"/>
            <a:ext cx="4160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3749040" y="1737360"/>
            <a:ext cx="4160520" cy="56692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208" y="184708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0832" y="173736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前端 / API 层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005072" y="251460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/api/rtsp/&lt;id&gt; ffmpeg 实时转 MJPEG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/api/detections 轮询识别结果并叠框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/api/detection-preview 识别帧预览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登录鉴权 · 每用户摄像头管理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75320" y="1737360"/>
            <a:ext cx="327355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8275320" y="1737360"/>
            <a:ext cx="3273552" cy="566928"/>
          </a:xfrm>
          <a:prstGeom prst="rect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184708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97112" y="1737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Re-ID 后端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31352" y="2514600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(:8890)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行人检测 + 姿态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Fast-ReID / OSNet 特征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跨镜画廊匹配全局 ID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38328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</a:rPr>
              <a:t>►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818120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◄ ►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80060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868680" y="4956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数据流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68680" y="5440680"/>
            <a:ext cx="1389888" cy="566928"/>
          </a:xfrm>
          <a:prstGeom prst="roundRect">
            <a:avLst>
              <a:gd name="adj" fmla="val 48387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9"/>
          <p:cNvSpPr/>
          <p:nvPr/>
        </p:nvSpPr>
        <p:spPr>
          <a:xfrm>
            <a:off x="868680" y="54406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拉流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2240280" y="544068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›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2423160" y="5440680"/>
            <a:ext cx="1389888" cy="566928"/>
          </a:xfrm>
          <a:prstGeom prst="roundRect">
            <a:avLst>
              <a:gd name="adj" fmla="val 48387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2"/>
          <p:cNvSpPr/>
          <p:nvPr/>
        </p:nvSpPr>
        <p:spPr>
          <a:xfrm>
            <a:off x="2423160" y="54406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解码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794760" y="544068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›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3977640" y="5440680"/>
            <a:ext cx="1389888" cy="566928"/>
          </a:xfrm>
          <a:prstGeom prst="roundRect">
            <a:avLst>
              <a:gd name="adj" fmla="val 48387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5"/>
          <p:cNvSpPr/>
          <p:nvPr/>
        </p:nvSpPr>
        <p:spPr>
          <a:xfrm>
            <a:off x="3977640" y="54406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检测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349240" y="544068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›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5532120" y="5440680"/>
            <a:ext cx="1389888" cy="566928"/>
          </a:xfrm>
          <a:prstGeom prst="roundRect">
            <a:avLst>
              <a:gd name="adj" fmla="val 48387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8"/>
          <p:cNvSpPr/>
          <p:nvPr/>
        </p:nvSpPr>
        <p:spPr>
          <a:xfrm>
            <a:off x="5532120" y="54406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 特征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903720" y="544068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›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7086600" y="5440680"/>
            <a:ext cx="1389888" cy="566928"/>
          </a:xfrm>
          <a:prstGeom prst="roundRect">
            <a:avLst>
              <a:gd name="adj" fmla="val 48387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1"/>
          <p:cNvSpPr/>
          <p:nvPr/>
        </p:nvSpPr>
        <p:spPr>
          <a:xfrm>
            <a:off x="7086600" y="54406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画廊匹配 ID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458200" y="544068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›</a:t>
            </a:r>
            <a:endParaRPr lang="en-US" sz="1600" dirty="0"/>
          </a:p>
        </p:txBody>
      </p:sp>
      <p:sp>
        <p:nvSpPr>
          <p:cNvPr id="38" name="Shape 33"/>
          <p:cNvSpPr/>
          <p:nvPr/>
        </p:nvSpPr>
        <p:spPr>
          <a:xfrm>
            <a:off x="8641080" y="5440680"/>
            <a:ext cx="1389888" cy="566928"/>
          </a:xfrm>
          <a:prstGeom prst="roundRect">
            <a:avLst>
              <a:gd name="adj" fmla="val 48387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4"/>
          <p:cNvSpPr/>
          <p:nvPr/>
        </p:nvSpPr>
        <p:spPr>
          <a:xfrm>
            <a:off x="8641080" y="54406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重叠去重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10012680" y="544068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›</a:t>
            </a:r>
            <a:endParaRPr lang="en-US" sz="1600" dirty="0"/>
          </a:p>
        </p:txBody>
      </p:sp>
      <p:sp>
        <p:nvSpPr>
          <p:cNvPr id="41" name="Shape 36"/>
          <p:cNvSpPr/>
          <p:nvPr/>
        </p:nvSpPr>
        <p:spPr>
          <a:xfrm>
            <a:off x="10195560" y="5440680"/>
            <a:ext cx="1389888" cy="566928"/>
          </a:xfrm>
          <a:prstGeom prst="roundRect">
            <a:avLst>
              <a:gd name="adj" fmla="val 48387"/>
            </a:avLst>
          </a:prstGeom>
          <a:solidFill>
            <a:srgbClr val="0A3D6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7"/>
          <p:cNvSpPr/>
          <p:nvPr/>
        </p:nvSpPr>
        <p:spPr>
          <a:xfrm>
            <a:off x="10195560" y="54406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前端叠框 + 总人数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 /  技术栈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全栈选型：实时性、识别精度与可维护性的平衡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0048" cy="420624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472184" y="2148840"/>
            <a:ext cx="1005840" cy="10058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239572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9184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前端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609344" y="3721608"/>
            <a:ext cx="7315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21671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实时预览 + Canvas 叠框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会话鉴权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11296" y="1783080"/>
            <a:ext cx="2670048" cy="420624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4343400" y="2148840"/>
            <a:ext cx="1005840" cy="100584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39572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329184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后端服务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480560" y="3721608"/>
            <a:ext cx="7315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3785616" y="3931920"/>
            <a:ext cx="21671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(建议 3.12)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帧抓取与质量检测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硬解 / 软解兜底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82512" y="1783080"/>
            <a:ext cx="2670048" cy="420624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7214616" y="21488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239572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82512" y="329184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检测与识别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7351776" y="3721608"/>
            <a:ext cx="7315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6656832" y="3931920"/>
            <a:ext cx="21671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行人检测 + Pose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Fast-ReID (Market BoT-R50)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torchreid / OSNet 备选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色彩直方图混合特征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253728" y="1783080"/>
            <a:ext cx="2670048" cy="420624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8"/>
          <p:cNvSpPr/>
          <p:nvPr/>
        </p:nvSpPr>
        <p:spPr>
          <a:xfrm>
            <a:off x="10085832" y="2148840"/>
            <a:ext cx="1005840" cy="10058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0" y="2395728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53728" y="329184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跨镜逻辑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10222992" y="3721608"/>
            <a:ext cx="7315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1"/>
          <p:cNvSpPr/>
          <p:nvPr/>
        </p:nvSpPr>
        <p:spPr>
          <a:xfrm>
            <a:off x="9528048" y="3931920"/>
            <a:ext cx="21671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每路 IoU + 位移 + 余弦跟踪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多原型余弦画廊匹配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重叠摄像头对去重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休眠池重识别复活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 /  核心处理流程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一次 /detections 采样：从原始帧到全局人数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91440" cy="199339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039112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抓帧与质检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2807208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按低采样率从每路 RTSP 抓帧，frame_quality 过滤 HEVC 花屏、撕裂、灰块等坏帧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4334256" y="1783080"/>
            <a:ext cx="352958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4334256" y="1783080"/>
            <a:ext cx="91440" cy="199339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4608576" y="205740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240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77256" y="2039112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YOLO 检测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54296" y="2807208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检出 person 框，person_filters 做置信度/形状过滤，box_nms 去重叠框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8028432" y="1783080"/>
            <a:ext cx="352958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8028432" y="1783080"/>
            <a:ext cx="91440" cy="199339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8302752" y="205740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22402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71432" y="2039112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Re-ID 特征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48472" y="2807208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对每个人框提取 Fast-ReID/OSNet 深度特征，叠加上下半身色彩直方图与姿态描述</a:t>
            </a:r>
            <a:endParaRPr lang="en-US" sz="1180" dirty="0"/>
          </a:p>
        </p:txBody>
      </p:sp>
      <p:sp>
        <p:nvSpPr>
          <p:cNvPr id="22" name="Shape 17"/>
          <p:cNvSpPr/>
          <p:nvPr/>
        </p:nvSpPr>
        <p:spPr>
          <a:xfrm>
            <a:off x="640080" y="4005072"/>
            <a:ext cx="352958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8"/>
          <p:cNvSpPr/>
          <p:nvPr/>
        </p:nvSpPr>
        <p:spPr>
          <a:xfrm>
            <a:off x="640080" y="4005072"/>
            <a:ext cx="91440" cy="199339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9"/>
          <p:cNvSpPr/>
          <p:nvPr/>
        </p:nvSpPr>
        <p:spPr>
          <a:xfrm>
            <a:off x="914400" y="4279392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46227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83080" y="4261104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跟踪 + 画廊匹配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60120" y="502920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每路用 IoU+位移+余弦关联轨迹复用 ID；新框统一排序后进余弦画廊匹配全局 ID</a:t>
            </a:r>
            <a:endParaRPr lang="en-US" sz="1180" dirty="0"/>
          </a:p>
        </p:txBody>
      </p:sp>
      <p:sp>
        <p:nvSpPr>
          <p:cNvPr id="28" name="Shape 22"/>
          <p:cNvSpPr/>
          <p:nvPr/>
        </p:nvSpPr>
        <p:spPr>
          <a:xfrm>
            <a:off x="4334256" y="4005072"/>
            <a:ext cx="352958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3"/>
          <p:cNvSpPr/>
          <p:nvPr/>
        </p:nvSpPr>
        <p:spPr>
          <a:xfrm>
            <a:off x="4334256" y="4005072"/>
            <a:ext cx="91440" cy="199339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4"/>
          <p:cNvSpPr/>
          <p:nvPr/>
        </p:nvSpPr>
        <p:spPr>
          <a:xfrm>
            <a:off x="4608576" y="4279392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446227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77256" y="4261104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重叠去重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654296" y="502920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对配置重叠的摄像头对，同一 globalPersonId 只保留一路框，避免重复计数</a:t>
            </a:r>
            <a:endParaRPr lang="en-US" sz="1180" dirty="0"/>
          </a:p>
        </p:txBody>
      </p:sp>
      <p:sp>
        <p:nvSpPr>
          <p:cNvPr id="34" name="Shape 27"/>
          <p:cNvSpPr/>
          <p:nvPr/>
        </p:nvSpPr>
        <p:spPr>
          <a:xfrm>
            <a:off x="8028432" y="4005072"/>
            <a:ext cx="352958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8"/>
          <p:cNvSpPr/>
          <p:nvPr/>
        </p:nvSpPr>
        <p:spPr>
          <a:xfrm>
            <a:off x="8028432" y="4005072"/>
            <a:ext cx="91440" cy="199339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29"/>
          <p:cNvSpPr/>
          <p:nvPr/>
        </p:nvSpPr>
        <p:spPr>
          <a:xfrm>
            <a:off x="8302752" y="4279392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632" y="4462272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171432" y="4261104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· 输出人数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8348472" y="5029200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汇总去重后的全局 ID 集合，返回各路叠框数据与当前可见总人数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ALGORITHM  /  跨镜 Re-ID 匹配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多原型余弦画廊：让“背面 / 侧面 / 跨镜”的同一人对得上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68680" y="1984248"/>
            <a:ext cx="777240" cy="77724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176272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56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每人多条原型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1945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每个全局 ID 保留至多 K 条 L2 归一化原型（正面/侧面/背面多视角），匹配取与 query 的最大余弦，避免单向量 EMA 把多视角“平均糊掉”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68680" y="3584448"/>
            <a:ext cx="777240" cy="77724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776472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4564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阈值 + 间隔判定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828800" y="37947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余弦超过阈值且与次优 ID 间隔足够才合并；最像原型仍偏低时追加新视角原型，而非强行覆盖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89204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868680" y="5184648"/>
            <a:ext cx="777240" cy="77724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5376672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5056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跟踪 + 休眠复活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28800" y="53949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每路用 IoU+中心位移+Re-ID 余弦关联本地轨迹复用 ID；人离开进休眠池，再入画时用偏外观的宽松匹配复活为同一人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15200" y="1691640"/>
            <a:ext cx="4233672" cy="4526280"/>
          </a:xfrm>
          <a:prstGeom prst="roundRect">
            <a:avLst>
              <a:gd name="adj" fmla="val 1728"/>
            </a:avLst>
          </a:prstGeom>
          <a:solidFill>
            <a:srgbClr val="13233D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75895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关键可调参数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589520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REID_MATCH_THRESHOLD</a:t>
            </a: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0.60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589520" y="2642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跨镜合并余弦阈值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589520" y="3026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REID_PROTOTYPES_PER_PERSON</a:t>
            </a: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5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758952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每人最多原型数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58952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REID_GALLERY_EMA</a:t>
            </a: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0.12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7589520" y="3904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原型滑动更新系数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7589520" y="4288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REID_MIN_MARGIN</a:t>
            </a: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0.03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7589520" y="4535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与次优 ID 最小间隔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7589520" y="4919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REID_PER_CAMERA_TRACK</a:t>
            </a: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1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7589520" y="5166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每路轨迹跟踪开关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7589520" y="5550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REID_GLOBAL_MATCH_ORDER</a:t>
            </a: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1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7589520" y="5797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全路统一排序进画廊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ROBUSTNESS  /  难点摄像头处理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低可用、低清与坏帧：让系统在真实环境里稳得住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965960" y="2121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HEVC 花屏 / 撕裂帧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24128" y="27432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frame_quality 检测上下半幅错位、色块、无纹理灰块</a:t>
            </a:r>
            <a:endParaRPr lang="en-US" sz="122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nokey + OpenCV 持久抓取，遇花屏自动重试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7726680" y="2121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低可用 / 低清摄像头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784848" y="27432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stairs_1/2 低可用：404 探测 + 容错重连</a:t>
            </a:r>
            <a:endParaRPr lang="en-US" sz="122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iidx 低清：色彩直方图混合特征，40px 下仍可区分</a:t>
            </a:r>
            <a:endParaRPr lang="en-US" sz="1220" dirty="0"/>
          </a:p>
        </p:txBody>
      </p:sp>
      <p:sp>
        <p:nvSpPr>
          <p:cNvPr id="14" name="Shape 10"/>
          <p:cNvSpPr/>
          <p:nvPr/>
        </p:nvSpPr>
        <p:spPr>
          <a:xfrm>
            <a:off x="640080" y="4050792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2"/>
          <p:cNvSpPr/>
          <p:nvPr/>
        </p:nvSpPr>
        <p:spPr>
          <a:xfrm>
            <a:off x="1965960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误检与重复框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024128" y="496519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person_filters 置信度/形状过滤（默认偏宽松不漏框）</a:t>
            </a:r>
            <a:endParaRPr lang="en-US" sz="122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box_nms 同路去重叠框，region_dedupe 合并输出层</a:t>
            </a:r>
            <a:endParaRPr lang="en-US" sz="1220" dirty="0"/>
          </a:p>
        </p:txBody>
      </p:sp>
      <p:sp>
        <p:nvSpPr>
          <p:cNvPr id="19" name="Shape 14"/>
          <p:cNvSpPr/>
          <p:nvPr/>
        </p:nvSpPr>
        <p:spPr>
          <a:xfrm>
            <a:off x="6400800" y="4050792"/>
            <a:ext cx="548640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6"/>
          <p:cNvSpPr/>
          <p:nvPr/>
        </p:nvSpPr>
        <p:spPr>
          <a:xfrm>
            <a:off x="7726680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测试数据模式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784848" y="496519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无稳定 RTSP 时用 prepare_test_data 生成本地帧</a:t>
            </a:r>
            <a:endParaRPr lang="en-US" sz="122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前端一键切换 Data Mode 验证完整 Re-ID 流程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 /  前端功能与用户系统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可登录、可管理、可实时观测的完整产品形态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68680" y="2048256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19456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751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登录与会话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33172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不开放注册，部署前用环境变量初始化管理员；登录后下发 HttpOnly 会话 cookie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640080" y="2999232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68680" y="3218688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3649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14553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每用户摄像头管理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45920" y="3502152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Admin 面板增删 RTSP 摄像头，按用户命名空间隔离预览缓存与 Re-ID 画廊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640080" y="4169664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868680" y="4389120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53542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159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实时预览叠框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467258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/api/rtsp 实时 MJPEG，/api/detections 轮询并在画面叠加人框与全局 ID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640080" y="5340096"/>
            <a:ext cx="67665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868680" y="5559552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57058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5486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识别帧预览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45920" y="5843016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/api/detection-preview 读取同一次采样的识别帧缓存，对照检测效果</a:t>
            </a:r>
            <a:endParaRPr lang="en-US" sz="1180" dirty="0"/>
          </a:p>
        </p:txBody>
      </p:sp>
      <p:sp>
        <p:nvSpPr>
          <p:cNvPr id="24" name="Shape 18"/>
          <p:cNvSpPr/>
          <p:nvPr/>
        </p:nvSpPr>
        <p:spPr>
          <a:xfrm>
            <a:off x="7726680" y="1828800"/>
            <a:ext cx="3822192" cy="4572000"/>
          </a:xfrm>
          <a:prstGeom prst="roundRect">
            <a:avLst>
              <a:gd name="adj" fmla="val 2153"/>
            </a:avLst>
          </a:prstGeom>
          <a:solidFill>
            <a:srgbClr val="21295C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9"/>
          <p:cNvSpPr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数据与隔离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00100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400" dirty="0"/>
          </a:p>
        </p:txBody>
      </p:sp>
      <p:sp>
        <p:nvSpPr>
          <p:cNvPr id="27" name="Text 21"/>
          <p:cNvSpPr/>
          <p:nvPr/>
        </p:nvSpPr>
        <p:spPr>
          <a:xfrm>
            <a:off x="8001000" y="3264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路室内 RTSP 摄像头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001000" y="3630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400" dirty="0"/>
          </a:p>
        </p:txBody>
      </p:sp>
      <p:sp>
        <p:nvSpPr>
          <p:cNvPr id="29" name="Text 23"/>
          <p:cNvSpPr/>
          <p:nvPr/>
        </p:nvSpPr>
        <p:spPr>
          <a:xfrm>
            <a:off x="8001000" y="4197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类摄像头（普通/低可用/低清）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001000" y="45628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400" dirty="0"/>
          </a:p>
        </p:txBody>
      </p:sp>
      <p:sp>
        <p:nvSpPr>
          <p:cNvPr id="31" name="Text 25"/>
          <p:cNvSpPr/>
          <p:nvPr/>
        </p:nvSpPr>
        <p:spPr>
          <a:xfrm>
            <a:off x="8001000" y="51297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份本地 app-store.json 用户数据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001000" y="54955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~3s</a:t>
            </a:r>
            <a:endParaRPr lang="en-US" sz="3400" dirty="0"/>
          </a:p>
        </p:txBody>
      </p:sp>
      <p:sp>
        <p:nvSpPr>
          <p:cNvPr id="33" name="Text 27"/>
          <p:cNvSpPr/>
          <p:nvPr/>
        </p:nvSpPr>
        <p:spPr>
          <a:xfrm>
            <a:off x="8001000" y="6062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识别采样周期，画面实时渲染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21295C">
              <a:alpha val="5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0A3D62">
              <a:alpha val="5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 /  总结与展望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一套端到端、可落地的跨镜人数感知系统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3511296" cy="1828800"/>
          </a:xfrm>
          <a:prstGeom prst="roundRect">
            <a:avLst>
              <a:gd name="adj" fmla="val 4000"/>
            </a:avLst>
          </a:prstGeom>
          <a:solidFill>
            <a:srgbClr val="13233D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51560" y="2578608"/>
            <a:ext cx="731520" cy="73152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76148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67004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完成项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69848" y="342900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实时多路渲染、低频识别、跨镜全局 ID 合并与重叠去重的全栈闭环已跑通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4471416" y="2286000"/>
            <a:ext cx="3511296" cy="1828800"/>
          </a:xfrm>
          <a:prstGeom prst="roundRect">
            <a:avLst>
              <a:gd name="adj" fmla="val 4000"/>
            </a:avLst>
          </a:prstGeom>
          <a:solidFill>
            <a:srgbClr val="13233D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4745736" y="2578608"/>
            <a:ext cx="731520" cy="73152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76148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14416" y="267004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鲁棒性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64024" y="342900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针对花屏、低可用、低清摄像头做了质检、容错与混合特征处理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8165592" y="2286000"/>
            <a:ext cx="3511296" cy="1828800"/>
          </a:xfrm>
          <a:prstGeom prst="roundRect">
            <a:avLst>
              <a:gd name="adj" fmla="val 4000"/>
            </a:avLst>
          </a:prstGeom>
          <a:solidFill>
            <a:srgbClr val="13233D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8439912" y="2578608"/>
            <a:ext cx="731520" cy="731520"/>
          </a:xfrm>
          <a:prstGeom prst="ellipse">
            <a:avLst/>
          </a:prstGeom>
          <a:solidFill>
            <a:srgbClr val="0A3D6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76148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08592" y="267004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产品化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458200" y="342900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登录鉴权 + 每用户摄像头管理 + 识别帧预览，具备可部署的产品形态</a:t>
            </a:r>
            <a:endParaRPr lang="en-US" sz="1180" dirty="0"/>
          </a:p>
        </p:txBody>
      </p:sp>
      <p:sp>
        <p:nvSpPr>
          <p:cNvPr id="21" name="Text 16"/>
          <p:cNvSpPr/>
          <p:nvPr/>
        </p:nvSpPr>
        <p:spPr>
          <a:xfrm>
            <a:off x="77724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后续方向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77240" y="4754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引入真正的 ByteTrack / BoT-SORT 在线跟踪以提升轨迹连续性   ·   GPU 推理加速提升采样频率   ·   重叠摄像头自动标定与几何约束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04672" y="5806440"/>
            <a:ext cx="106070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9"/>
          <p:cNvSpPr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8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geodance-reid   ·   室内多摄像头跨镜行人 Re-ID 系统   ·   感谢观看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Office PowerPoint</Application>
  <PresentationFormat>宽屏</PresentationFormat>
  <Paragraphs>158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geodance-reid 项目汇报</dc:title>
  <dc:subject>PptxGenJS Presentation</dc:subject>
  <dc:creator>geodance-reid</dc:creator>
  <cp:lastModifiedBy>宪 王</cp:lastModifiedBy>
  <cp:revision>4</cp:revision>
  <dcterms:created xsi:type="dcterms:W3CDTF">2026-06-01T16:23:38Z</dcterms:created>
  <dcterms:modified xsi:type="dcterms:W3CDTF">2026-06-01T16:27:33Z</dcterms:modified>
</cp:coreProperties>
</file>